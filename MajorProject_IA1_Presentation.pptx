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705432" cy="1280160"/>
          </a:xfrm>
          <a:prstGeom prst="rtTriangl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5486262" y="0"/>
            <a:ext cx="6705432" cy="1280160"/>
          </a:xfrm>
          <a:prstGeom prst="rtTriangle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D94F16"/>
                </a:solidFill>
                <a:latin typeface="Calibri"/>
              </a:rPr>
              <a:t>M23DE0403:  Major Project– IA1</a:t>
            </a:r>
          </a:p>
          <a:p>
            <a:r>
              <a:rPr sz="2000">
                <a:solidFill>
                  <a:srgbClr val="D94F16"/>
                </a:solidFill>
                <a:latin typeface="Calibri"/>
              </a:rPr>
              <a:t>Master of Computer Applications- MCA</a:t>
            </a:r>
          </a:p>
          <a:p>
            <a:r>
              <a:rPr sz="2000">
                <a:solidFill>
                  <a:srgbClr val="D94F16"/>
                </a:solidFill>
                <a:latin typeface="Calibri"/>
              </a:rPr>
              <a:t>IV Semester –   2025 - 2026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800" b="1" i="0">
                <a:solidFill>
                  <a:srgbClr val="D94F16"/>
                </a:solidFill>
                <a:latin typeface="Calibri"/>
              </a:rPr>
              <a:t>School of Computer Science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705432" cy="1280160"/>
          </a:xfrm>
          <a:prstGeom prst="rtTriangl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5486262" y="0"/>
            <a:ext cx="6705432" cy="1280160"/>
          </a:xfrm>
          <a:prstGeom prst="rtTriangle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/>
            <a:r>
              <a:rPr sz="2800" b="1" i="0">
                <a:solidFill>
                  <a:srgbClr val="D94F16"/>
                </a:solidFill>
                <a:latin typeface="Calibri"/>
              </a:rPr>
              <a:t>End-to-End Deployment of an E-Commerce Application using Terraform, Ansible and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D94F16"/>
                </a:solidFill>
                <a:latin typeface="Calibri"/>
              </a:rPr>
              <a:t>Presented by : &lt; Name &gt;</a:t>
            </a:r>
          </a:p>
          <a:p>
            <a:pPr algn="ctr"/>
            <a:r>
              <a:rPr sz="2200">
                <a:solidFill>
                  <a:srgbClr val="D94F16"/>
                </a:solidFill>
                <a:latin typeface="Calibri"/>
              </a:rPr>
              <a:t>Under the Guidance of:  &lt; Guide Name 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9" name="Oval 8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400" b="1" i="0">
                <a:solidFill>
                  <a:srgbClr val="C0392B"/>
                </a:solidFill>
                <a:latin typeface="Calibri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1.  Abstract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2.  Introduction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    I. Problem Statement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   II. Motivation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3.  Scope of the problem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4.  System Requirements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5.  Literature Review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6.  Data Collection / Dataset Description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7.  Gantt Chart / Project Timeline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8. 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1.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This project demonstrates an end-to-end deployment of a containerized e-commerce application on Amazon Web Services using Terraform for infrastructure provisioning, Ansible for configuration management, Amazon EKS for container orchestration, and a Prometheus / Grafana / Loki / CloudWatch stack for observability.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11535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Reproducible AWS landing zone, modular Terraform, idempotent Ansible.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Microservices deployed to Kubernetes through Helm and GitHub Actions.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Monitoring, logging and alerting wired into every microservice.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Validated under three synthetic load profiles, including a flash sale.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9" name="Oval 8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2. 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E-commerce platforms must scale elastically, recover quickly, and ship features safely.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Manual cloud setups are not reproducible, not auditable, and easy to mis-configure.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Infrastructure as Code (Terraform + Ansible) addresses these concerns at the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I.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11535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600" b="0" i="0">
                <a:solidFill>
                  <a:srgbClr val="222222"/>
                </a:solidFill>
                <a:latin typeface="Calibri"/>
              </a:rPr>
              <a:t>How can a small engineering team deliver a secure, observable and elastically scalable e-commerce platform on AWS using only declarative tooling, reproducible across environments, and operable by a single on-call engineer?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11" name="Oval 10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2. Introduction —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A few minutes of downtime during a flash sale can wipe out a quarter's growth target.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Clicked-together AWS environments cannot be reproduced for staging or DR drills.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Security misconfigurations in console-managed accounts are the #1 cause of cloud incidents.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Observability is rarely retrofitted; it must be designed in from day one.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Modern hiring expects engineers to ship Terraform, Ansible, Kubernetes and CI/CD as one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3. Scope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Multi-account AWS landing zone (dev / staging / prod).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Reusable Terraform modules and Ansible roles.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Containerised e-commerce app on Amazon EKS via Helm.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GitHub Actions CI/CD with security scans.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Monitoring, logging, alerting and runbooks.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37360"/>
            <a:ext cx="576072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33364D"/>
                </a:solidFill>
                <a:latin typeface="Calibri"/>
              </a:rPr>
              <a:t>Out of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94560"/>
            <a:ext cx="5943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Building business logic from scratch (reuse open-source app).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Multi-cloud or hybrid-cloud deployment.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Formal PCI-DSS certification audits.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Self-hosted alternatives where AWS managed services exist.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11" name="Oval 10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4. System Requirements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Single-command create / update / destroy via Terraform; Helm-based rollouts; HPA on CPU and request-rate.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TLS-terminating ingress; CI/CD on every PR with tfsec, Checkov, image scans.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Non-functional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99.9% storefront availability; p95 latency &lt; 500 ms under load.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Non-functional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Encryption in transit; secrets via AWS Secrets Manager + KMS; least-privilege IAM.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Hardware (Workstation)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x86_64 / Apple Silicon, 16 GB RAM (32 GB rec.), 100 GB SSD.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Hardware (AWS)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EKS across 3 AZs; m5.large / m5.xlarge nodes; RDS Multi-AZ; ElastiCache; S3; CloudFront.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Terraform 1.7+, Ansible 9+, kubectl 1.29+, Helm 3.14+, AWS CLI v2, Docker 25+, GitHub 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5. Literature Review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Reference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Insight Used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Morris (2020); Brikman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Module versioning, remote state, drift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IaC defects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Guerriero et al. (2019)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Static analysis (tfsec, Checkov) in CI.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Config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Hochstein &amp; Moser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Agentless, idempotent Ansible roles.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Burns et al. (2019); AWS Containers Lens (2024)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EKS hardening, declarative add-ons.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Beyer et al. (2016); Majors et al.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Four golden signals, SLO-based alerting.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Pitfalls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Sridharan (2018)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Burn-rate alerts, self-service dashboards.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5. Research Gaps &amp;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Research Gaps Addressed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11535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Most Terraform tutorials stop at one environment; no module versioning or drift management.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Ansible literature treats config management in isolation from cloud provisioning.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Observability case studies target very large SRE orgs, not small engineering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Implications for the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11535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Remote backend with state locking is mandatory.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Ansible scoped to bootstrap; ongoing config in Kubernetes manifests.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Containers Lens used as the EKS configuration checklist.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Golden-signals dashboard inherited by every microservice.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11" name="Oval 10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731520"/>
          </a:xfrm>
          <a:prstGeom prst="round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AWS Landing Zone (Organizations, Control Tower, IAM, KMS)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10911535" cy="731520"/>
          </a:xfrm>
          <a:prstGeom prst="roundRect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Terraform Modules: VPC, EKS, RDS, ElastiCache, S3, CloudFront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10911535" cy="731520"/>
          </a:xfrm>
          <a:prstGeom prst="round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Ansible Roles: Bastion, OS hardening, namespace bootstrap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11535" cy="731520"/>
          </a:xfrm>
          <a:prstGeom prst="roundRect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Kubernetes Workloads: Frontend, Catalog, Cart, Order,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10911535" cy="731520"/>
          </a:xfrm>
          <a:prstGeom prst="round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Observability: Prometheus, Grafana, Loki, CloudWatch, OpenTelemetry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12" name="Oval 11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6. Dataset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800" b="1" i="0">
                <a:solidFill>
                  <a:srgbClr val="D94F16"/>
                </a:solidFill>
                <a:latin typeface="Calibri"/>
              </a:rPr>
              <a:t>Olist Brazilian E-Commerce Public Dataset (Kaggle, 2018)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Rows (approx.)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99,441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Order header data with status.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order_items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112,650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Line items, prices, freight.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32,951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Catalog with category and dimensions.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99,441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Customer ids, zip codes, cities.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Seller ids and locations.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103,886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Payment method, value, installments.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Review scores and free-text comments.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9" name="Oval 8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6. Synthetic Traffic &amp;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Synthetic Traffic Profiles (k6)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Virtual Users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Baseline browse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10 min steady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Home / category / detail pages.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Cart and checkout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30 min steady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Add-to-cart, checkout, payment flows.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Flash 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50 → 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5 min ramp + 15 min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Calibri"/>
                        </a:rPr>
                        <a:t>Trigger HPA and cluster autoscaling.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800" b="1" i="0">
                <a:solidFill>
                  <a:srgbClr val="D94F16"/>
                </a:solidFill>
                <a:latin typeface="Calibri"/>
              </a:rPr>
              <a:t>Telemetry Captured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911535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Metrics: 15-second resolution; 15 days local + 13 months in AMP.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Logs: structured JSON via Promtail to Loki and CloudWatch.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Traces: OpenTelemetry sampled at 5%, exported to Tempo and X-Ray.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11" name="Oval 10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7. Gantt Chart / Project Timeline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737360"/>
          <a:ext cx="11643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  <a:gridCol w="458708"/>
              </a:tblGrid>
              <a:tr h="41563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Work Package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J1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J2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J3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J4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F2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F3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F4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M1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M2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M3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M4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A1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A2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A3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A4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Y1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Y2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Y3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Y4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WP1 Requirements &amp; literature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WP2 Landing zone + OIDC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WP3 Terraform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WP4 Ansible roles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WP5 EKS + add-ons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WP6 App + Helm charts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WP7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WP8 Monitoring &amp; logging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WP9 Load + chaos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WP10 Docs &amp; report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6C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7. Milestones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AWS landing zone and OIDC federation merged.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2026-03-02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Terraform module catalogue feature-complete (staging).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2026-03-23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EKS cluster healthy with base add-ons and ingress.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2026-04-13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CI/CD pipeline deploying reference app end to end.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2026-04-27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Observability stack delivering dashboards and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2026-05-11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Load testing and chaos engineering documented.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2026-05-25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Final report and viva delivered.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7. Risk Register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D94F1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AWS quota limits during load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Quota increases two weeks ahead of WP9.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Cost overruns on managed services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Infracost on every PR; nightly tear-downs.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Domain / TLS cert delays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Pre-provision in WP2 via ACM.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Tooling drift across machines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Pinned versions in tool-versions; CONTRIBUTING.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Knowledge silos around Kubernetes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Weekly pairing and runbook reviews.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Progress vs.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66928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D94F16"/>
                </a:solidFill>
                <a:latin typeface="Calibri"/>
              </a:rPr>
              <a:t>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66928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AWS landing zone and OIDC federation.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Terraform modules for networking and EKS.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Ansible roles for bastion configuration.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First end-to-end pipeline to a staging cluster.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94960" cy="457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000" b="1" i="0">
                <a:solidFill>
                  <a:srgbClr val="33364D"/>
                </a:solidFill>
                <a:latin typeface="Calibri"/>
              </a:rPr>
              <a:t>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9496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Production hardening and DR drill.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Full observability stack with SLO-based alerts.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Load and chaos testing under flash-sale profile.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Runbooks and final documentation.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11" name="Oval 10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The progress so far validates the thesis that infrastructure, configuration and observability must be designed as one coherent system. Module versioning, OIDC federation, and PR-time security scanning have already prevented two misconfigurations from reaching staging.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11535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Reproducible reference platform for small e-commerce teams.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Artefacts: Terraform, Ansible, Helm, GitHub Actions, dashboards, runbooks.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Final viva planned for 2026-05-25; remaining risks tracked in Section 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9" name="Oval 8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77295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Amazon Web Services. (2024). AWS Well-Architected Framework: Containers Lens.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Beyer, B. et al. (2016). Site Reliability Engineering. O'Reilly.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Brikman, Y. (2022). Terraform: Up &amp; Running (3rd ed.). O'Reilly.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Burns, B. et al. (2019). Borg, Omega, and Kubernetes. ACM Queue 17(1).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Guerriero, M. et al. (2019). Adoption and challenges of IaC. ICSME.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Hochstein, L. &amp; Moser, R. (2017). Ansible: Up &amp; Running (2nd ed.). O'Reilly.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Kaggle. (2018). Brazilian E-Commerce Public Dataset by Olist.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Majors, C. et al. (2022). Observability Engineering. O'Reilly.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Morris, K. (2020). Infrastructure as Code (2nd ed.). O'Reilly.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Sridharan, C. (2018). Distributed Systems Observability. O'Reilly.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Verma, A. et al. (2021). Comparative study of managed Kubernetes. IJCC 10(3).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8" name="Oval 7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6705432" cy="1280160"/>
          </a:xfrm>
          <a:prstGeom prst="rtTriangl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5486262" y="0"/>
            <a:ext cx="6705432" cy="1280160"/>
          </a:xfrm>
          <a:prstGeom prst="rtTriangle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6576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000" b="1">
                <a:solidFill>
                  <a:srgbClr val="D94F16"/>
                </a:solidFill>
                <a:latin typeface="Calibri"/>
              </a:rPr>
              <a:t>REVA UNIVERSITY</a:t>
            </a:r>
          </a:p>
          <a:p>
            <a:r>
              <a:rPr sz="1000" i="1">
                <a:solidFill>
                  <a:srgbClr val="555555"/>
                </a:solidFill>
                <a:latin typeface="Calibri"/>
              </a:rPr>
              <a:t>Bengaluru,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/>
            <a:r>
              <a:rPr sz="7200" b="1" i="0">
                <a:solidFill>
                  <a:srgbClr val="D94F16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/>
            <a:r>
              <a:rPr sz="2800" b="0" i="0">
                <a:solidFill>
                  <a:srgbClr val="33364D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www.reva.edu.in</a:t>
            </a:r>
          </a:p>
        </p:txBody>
      </p:sp>
      <p:sp>
        <p:nvSpPr>
          <p:cNvPr id="9" name="Oval 8"/>
          <p:cNvSpPr/>
          <p:nvPr/>
        </p:nvSpPr>
        <p:spPr>
          <a:xfrm>
            <a:off x="11551615" y="6217920"/>
            <a:ext cx="365760" cy="365760"/>
          </a:xfrm>
          <a:prstGeom prst="ellipse">
            <a:avLst/>
          </a:prstGeom>
          <a:solidFill>
            <a:srgbClr val="EE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